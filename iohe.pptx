
<file path=[Content_Types].xml><?xml version="1.0" encoding="utf-8"?>
<Types xmlns="http://schemas.openxmlformats.org/package/2006/content-types">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theme/themeOverride1.xml" ContentType="application/vnd.openxmlformats-officedocument.themeOverride+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customXml/itemProps2.xml" ContentType="application/vnd.openxmlformats-officedocument.customXml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24"/>
  </p:notesMasterIdLst>
  <p:handoutMasterIdLst>
    <p:handoutMasterId r:id="rId25"/>
  </p:handoutMasterIdLst>
  <p:sldIdLst>
    <p:sldId id="256" r:id="rId5"/>
    <p:sldId id="257" r:id="rId6"/>
    <p:sldId id="286" r:id="rId7"/>
    <p:sldId id="287" r:id="rId8"/>
    <p:sldId id="271" r:id="rId9"/>
    <p:sldId id="272" r:id="rId10"/>
    <p:sldId id="273" r:id="rId11"/>
    <p:sldId id="289" r:id="rId12"/>
    <p:sldId id="288" r:id="rId13"/>
    <p:sldId id="290" r:id="rId14"/>
    <p:sldId id="291" r:id="rId15"/>
    <p:sldId id="276" r:id="rId16"/>
    <p:sldId id="278" r:id="rId17"/>
    <p:sldId id="292" r:id="rId18"/>
    <p:sldId id="279" r:id="rId19"/>
    <p:sldId id="285" r:id="rId20"/>
    <p:sldId id="283" r:id="rId21"/>
    <p:sldId id="284" r:id="rId22"/>
    <p:sldId id="268" r:id="rId23"/>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620"/>
    <p:restoredTop sz="95033" autoAdjust="0"/>
  </p:normalViewPr>
  <p:slideViewPr>
    <p:cSldViewPr snapToGrid="0">
      <p:cViewPr varScale="1">
        <p:scale>
          <a:sx n="57" d="100"/>
          <a:sy n="57" d="100"/>
        </p:scale>
        <p:origin x="-1186" y="-72"/>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xmlns=""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4/27/2026</a:t>
            </a:fld>
            <a:endParaRPr lang="en-US"/>
          </a:p>
        </p:txBody>
      </p:sp>
      <p:sp>
        <p:nvSpPr>
          <p:cNvPr id="4" name="Footer Placeholder 3">
            <a:extLst>
              <a:ext uri="{FF2B5EF4-FFF2-40B4-BE49-F238E27FC236}">
                <a16:creationId xmlns:a16="http://schemas.microsoft.com/office/drawing/2014/main" xmlns=""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xmlns=""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xmlns=""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4/27/2026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xmlns=""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xmlns=""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xmlns=""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a:solidFill>
                  <a:srgbClr val="000000"/>
                </a:solidFill>
                <a:latin typeface="Calibri"/>
                <a:ea typeface="MS PGothic"/>
              </a:rPr>
              <a:t>Click to edit Master title style</a:t>
            </a:r>
            <a:endParaRPr lang="en-US" sz="3000" b="0" strike="noStrike" spc="-1">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a:solidFill>
                  <a:srgbClr val="000000"/>
                </a:solidFill>
                <a:latin typeface="Calibri"/>
                <a:ea typeface="MS PGothic"/>
              </a:rPr>
              <a:t>Click to edit Master text styles</a:t>
            </a:r>
            <a:endParaRPr lang="en-US" sz="3200" b="0" strike="noStrike" spc="-1">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a:solidFill>
                  <a:srgbClr val="000000"/>
                </a:solidFill>
                <a:latin typeface="Calibri"/>
                <a:ea typeface="MS PGothic"/>
              </a:rPr>
              <a:t>Second level</a:t>
            </a:r>
            <a:endParaRPr lang="en-US" sz="2800" b="0" strike="noStrike" spc="-1">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a:solidFill>
                  <a:srgbClr val="000000"/>
                </a:solidFill>
                <a:latin typeface="Calibri"/>
                <a:ea typeface="MS PGothic"/>
              </a:rPr>
              <a:t>Third level</a:t>
            </a:r>
            <a:endParaRPr lang="en-US" sz="2400" b="0" strike="noStrike" spc="-1">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a:solidFill>
                  <a:srgbClr val="000000"/>
                </a:solidFill>
                <a:latin typeface="Calibri"/>
                <a:ea typeface="MS PGothic"/>
              </a:rPr>
              <a:t>Fourth level</a:t>
            </a:r>
            <a:endParaRPr lang="en-US" sz="2000" b="0" strike="noStrike" spc="-1">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a:solidFill>
                  <a:srgbClr val="000000"/>
                </a:solidFill>
                <a:latin typeface="Calibri"/>
                <a:ea typeface="MS PGothic"/>
              </a:rPr>
              <a:t>Fifth level</a:t>
            </a:r>
            <a:endParaRPr lang="en-US" sz="2000" b="0" strike="noStrike" spc="-1">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xtShape 1"/>
          <p:cNvSpPr txBox="1"/>
          <p:nvPr/>
        </p:nvSpPr>
        <p:spPr>
          <a:xfrm>
            <a:off x="-279919" y="921111"/>
            <a:ext cx="9423919" cy="6503438"/>
          </a:xfrm>
          <a:prstGeom prst="rect">
            <a:avLst/>
          </a:prstGeom>
          <a:noFill/>
          <a:ln w="9360">
            <a:noFill/>
          </a:ln>
        </p:spPr>
        <p:txBody>
          <a:bodyPr>
            <a:noAutofit/>
          </a:bodyPr>
          <a:lstStyle/>
          <a:p>
            <a:pPr algn="ctr">
              <a:lnSpc>
                <a:spcPct val="100000"/>
              </a:lnSpc>
              <a:spcBef>
                <a:spcPts val="400"/>
              </a:spcBef>
            </a:pPr>
            <a:r>
              <a:rPr lang="en-IN" sz="2400" b="1" dirty="0">
                <a:latin typeface="Times New Roman" panose="02020603050405020304" pitchFamily="18" charset="0"/>
                <a:ea typeface="Calibri" panose="020F0502020204030204" pitchFamily="34" charset="0"/>
                <a:cs typeface="Times New Roman" panose="02020603050405020304" pitchFamily="18" charset="0"/>
              </a:rPr>
              <a:t>Project Presentation of IOHE</a:t>
            </a:r>
          </a:p>
          <a:p>
            <a:pPr algn="ctr">
              <a:lnSpc>
                <a:spcPct val="100000"/>
              </a:lnSpc>
              <a:spcBef>
                <a:spcPts val="400"/>
              </a:spcBef>
            </a:pPr>
            <a:r>
              <a:rPr lang="en-IN" b="1"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 </a:t>
            </a:r>
            <a:endParaRPr lang="en-IN" b="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r>
              <a:rPr lang="en-US" sz="2800" b="1" spc="-1" dirty="0">
                <a:latin typeface="Times New Roman" panose="02020603050405020304" pitchFamily="18" charset="0"/>
                <a:ea typeface="Calibri" panose="020F0502020204030204" pitchFamily="34" charset="0"/>
                <a:cs typeface="Times New Roman" panose="02020603050405020304" pitchFamily="18" charset="0"/>
              </a:rPr>
              <a:t>EDGE CLOUD MONITOR</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Hitanshi</a:t>
            </a: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-(2210991668)</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Ishika-(2210991687)</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Harmandeep Singh</a:t>
            </a: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-(2210991610)</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Hardik Bhardwaj</a:t>
            </a: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-(2210991607)</a:t>
            </a: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Mr</a:t>
            </a:r>
            <a:r>
              <a:rPr lang="en-US" sz="2000" spc="-1" dirty="0">
                <a:solidFill>
                  <a:srgbClr val="000000"/>
                </a:solidFill>
                <a:latin typeface="Times New Roman" panose="02020603050405020304" pitchFamily="18" charset="0"/>
                <a:ea typeface="MS PGothic"/>
                <a:cs typeface="Times New Roman" panose="02020603050405020304" pitchFamily="18" charset="0"/>
              </a:rPr>
              <a:t>. Ajay Kumar</a:t>
            </a: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64008" y="-136185"/>
            <a:ext cx="6019560" cy="837720"/>
          </a:xfrm>
          <a:prstGeom prst="rect">
            <a:avLst/>
          </a:prstGeom>
          <a:noFill/>
          <a:ln w="9360">
            <a:noFill/>
          </a:ln>
        </p:spPr>
        <p:txBody>
          <a:bodyPr anchor="ctr">
            <a:noAutofit/>
          </a:bodyPr>
          <a:lstStyle/>
          <a:p>
            <a:pPr>
              <a:lnSpc>
                <a:spcPct val="100000"/>
              </a:lnSpc>
            </a:pPr>
            <a:r>
              <a:rPr lang="en" sz="2800" b="1" dirty="0">
                <a:latin typeface="Times New Roman" panose="02020603050405020304" pitchFamily="18" charset="0"/>
                <a:cs typeface="Times New Roman" panose="02020603050405020304" pitchFamily="18" charset="0"/>
              </a:rPr>
              <a:t>Introduction</a:t>
            </a:r>
            <a:endParaRPr lang="en-US" sz="2800" b="1"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r>
              <a:rPr lang="en-US" sz="2400" dirty="0">
                <a:latin typeface="Times New Roman" panose="02020603050405020304" pitchFamily="18" charset="0"/>
                <a:cs typeface="Times New Roman" panose="02020603050405020304" pitchFamily="18" charset="0"/>
              </a:rPr>
              <a:t>The rapid growth of Internet of Things (IoT) devices and real-time applications has significantly increased data generation, leading to major advancements in data center technologies. </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Traditional cloud computing provides centralized processing, scalability, and cost efficiency, but it suffers from limitations such as high latency, increased bandwidth usage, and slower response times for real-time applications. To overcome these challenges, edge computing has emerged as a solution that processes data closer to the source.</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The integration of cloud and edge computing creates a hybrid architecture that improves system performance, reduces latency, and enables efficient real-time decision-making.</a:t>
            </a:r>
          </a:p>
          <a:p>
            <a:endParaRPr lang="en-US" sz="2400" b="1" dirty="0">
              <a:latin typeface="Times New Roman" panose="02020603050405020304" pitchFamily="18" charset="0"/>
              <a:cs typeface="Times New Roman" pitchFamily="18" charset="0"/>
            </a:endParaRPr>
          </a:p>
          <a:p>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0000"/>
              </a:lnSpc>
              <a:spcBef>
                <a:spcPts val="400"/>
              </a:spcBef>
            </a:pPr>
            <a:endParaRPr lang="en-US" sz="24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2400"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sz="2400" b="0" strike="noStrike"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sz="2400" b="0" strike="noStrike"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sz="2400" b="0" strike="noStrike"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sz="24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24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24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24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24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2400" b="0" strike="noStrike"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401E780-50DA-8A7E-5C4C-747C4B845261}"/>
              </a:ext>
            </a:extLst>
          </p:cNvPr>
          <p:cNvSpPr>
            <a:spLocks noGrp="1"/>
          </p:cNvSpPr>
          <p:nvPr>
            <p:ph type="title"/>
          </p:nvPr>
        </p:nvSpPr>
        <p:spPr>
          <a:xfrm>
            <a:off x="207264" y="0"/>
            <a:ext cx="5486040" cy="914040"/>
          </a:xfrm>
        </p:spPr>
        <p:txBody>
          <a:bodyPr/>
          <a:lstStyle/>
          <a:p>
            <a:r>
              <a:rPr lang="en-US" sz="2800" b="1" dirty="0">
                <a:latin typeface="Times New Roman" panose="02020603050405020304" pitchFamily="18" charset="0"/>
                <a:cs typeface="Times New Roman" panose="02020603050405020304" pitchFamily="18" charset="0"/>
              </a:rPr>
              <a:t>Cloud Computing in Data Centers</a:t>
            </a:r>
          </a:p>
        </p:txBody>
      </p:sp>
      <p:sp>
        <p:nvSpPr>
          <p:cNvPr id="3" name="Subtitle 2">
            <a:extLst>
              <a:ext uri="{FF2B5EF4-FFF2-40B4-BE49-F238E27FC236}">
                <a16:creationId xmlns:a16="http://schemas.microsoft.com/office/drawing/2014/main" xmlns="" id="{AFFEFE32-8065-470A-CBBB-8F6D13014A38}"/>
              </a:ext>
            </a:extLst>
          </p:cNvPr>
          <p:cNvSpPr>
            <a:spLocks noGrp="1"/>
          </p:cNvSpPr>
          <p:nvPr>
            <p:ph type="subTitle"/>
          </p:nvPr>
        </p:nvSpPr>
        <p:spPr>
          <a:xfrm>
            <a:off x="296780" y="2614863"/>
            <a:ext cx="8422104" cy="1435409"/>
          </a:xfrm>
        </p:spPr>
        <p:txBody>
          <a:bodyPr/>
          <a:lstStyle/>
          <a:p>
            <a:pPr marL="0" indent="0">
              <a:buNone/>
            </a:pPr>
            <a:r>
              <a:rPr lang="en-US" sz="2400" dirty="0">
                <a:latin typeface="Times New Roman" panose="02020603050405020304" pitchFamily="18" charset="0"/>
                <a:cs typeface="Times New Roman" panose="02020603050405020304" pitchFamily="18" charset="0"/>
              </a:rPr>
              <a:t>Cloud computing plays a crucial role in modern data centers by enabling scalable and flexible resource management. It uses virtualization and distributed systems to efficiently allocate computing resources. </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Cloud platforms support different service models such as Infrastructure as a Service (IaaS), Platform as a Service (PaaS), and Software as a Service (SaaS).</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 These technologies improve resource utilization, reduce operational costs, and support large-scale data processing and storage.</a:t>
            </a:r>
          </a:p>
        </p:txBody>
      </p:sp>
    </p:spTree>
    <p:extLst>
      <p:ext uri="{BB962C8B-B14F-4D97-AF65-F5344CB8AC3E}">
        <p14:creationId xmlns:p14="http://schemas.microsoft.com/office/powerpoint/2010/main" xmlns="" val="22232739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A836601-DE67-8C7A-9AC7-71AD22DC14A7}"/>
              </a:ext>
            </a:extLst>
          </p:cNvPr>
          <p:cNvSpPr>
            <a:spLocks noGrp="1"/>
          </p:cNvSpPr>
          <p:nvPr>
            <p:ph type="title"/>
          </p:nvPr>
        </p:nvSpPr>
        <p:spPr/>
        <p:txBody>
          <a:bodyPr/>
          <a:lstStyle/>
          <a:p>
            <a:r>
              <a:rPr lang="en-US" sz="2800" b="1" dirty="0">
                <a:latin typeface="Times New Roman" panose="02020603050405020304" pitchFamily="18" charset="0"/>
                <a:cs typeface="Times New Roman" panose="02020603050405020304" pitchFamily="18" charset="0"/>
              </a:rPr>
              <a:t>Edge Computing Overview</a:t>
            </a:r>
          </a:p>
        </p:txBody>
      </p:sp>
      <p:sp>
        <p:nvSpPr>
          <p:cNvPr id="3" name="Subtitle 2">
            <a:extLst>
              <a:ext uri="{FF2B5EF4-FFF2-40B4-BE49-F238E27FC236}">
                <a16:creationId xmlns:a16="http://schemas.microsoft.com/office/drawing/2014/main" xmlns="" id="{B3A4B1CE-F6BD-A0CF-88A5-C6A1701F7516}"/>
              </a:ext>
            </a:extLst>
          </p:cNvPr>
          <p:cNvSpPr>
            <a:spLocks noGrp="1"/>
          </p:cNvSpPr>
          <p:nvPr>
            <p:ph type="subTitle"/>
          </p:nvPr>
        </p:nvSpPr>
        <p:spPr>
          <a:xfrm>
            <a:off x="449178" y="3280611"/>
            <a:ext cx="7900737" cy="914040"/>
          </a:xfrm>
        </p:spPr>
        <p:txBody>
          <a:bodyPr/>
          <a:lstStyle/>
          <a:p>
            <a:pPr marL="0" indent="0">
              <a:buNone/>
            </a:pPr>
            <a:r>
              <a:rPr lang="en-US" sz="2400" dirty="0">
                <a:latin typeface="Times New Roman" panose="02020603050405020304" pitchFamily="18" charset="0"/>
                <a:cs typeface="Times New Roman" panose="02020603050405020304" pitchFamily="18" charset="0"/>
              </a:rPr>
              <a:t>Edge computing is a decentralized computing approach where data is processed near the source instead of relying entirely on centralized cloud servers. </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This significantly reduces latency and bandwidth consumption while improving system responsiveness. Edge computing is widely used in applications such as IoT systems, healthcare monitoring, autonomous vehicles, and industrial automation. </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It enables real-time data processing, which is essential for time-sensitive applications.</a:t>
            </a:r>
          </a:p>
          <a:p>
            <a:endParaRPr lang="en-US" dirty="0"/>
          </a:p>
        </p:txBody>
      </p:sp>
    </p:spTree>
    <p:extLst>
      <p:ext uri="{BB962C8B-B14F-4D97-AF65-F5344CB8AC3E}">
        <p14:creationId xmlns:p14="http://schemas.microsoft.com/office/powerpoint/2010/main" xmlns="" val="1883153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29D6FF6-832E-7525-6A40-E0E329E95861}"/>
              </a:ext>
            </a:extLst>
          </p:cNvPr>
          <p:cNvSpPr>
            <a:spLocks noGrp="1"/>
          </p:cNvSpPr>
          <p:nvPr>
            <p:ph type="title"/>
          </p:nvPr>
        </p:nvSpPr>
        <p:spPr>
          <a:xfrm>
            <a:off x="261257" y="0"/>
            <a:ext cx="5486040" cy="914040"/>
          </a:xfrm>
        </p:spPr>
        <p:txBody>
          <a:bodyPr/>
          <a:lstStyle/>
          <a:p>
            <a:r>
              <a:rPr lang="en-US" sz="2800" b="1" dirty="0">
                <a:latin typeface="Times New Roman" panose="02020603050405020304" pitchFamily="18" charset="0"/>
                <a:cs typeface="Times New Roman" panose="02020603050405020304" pitchFamily="18" charset="0"/>
              </a:rPr>
              <a:t>Hybrid Cloud-Edge Architecture</a:t>
            </a:r>
            <a:endParaRPr lang="en-IN" sz="28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xmlns="" id="{1BE274B9-95E0-64D8-646D-40EAD94BC036}"/>
              </a:ext>
            </a:extLst>
          </p:cNvPr>
          <p:cNvSpPr>
            <a:spLocks noGrp="1"/>
          </p:cNvSpPr>
          <p:nvPr>
            <p:ph type="subTitle"/>
          </p:nvPr>
        </p:nvSpPr>
        <p:spPr>
          <a:xfrm>
            <a:off x="261256" y="401216"/>
            <a:ext cx="8425363" cy="6072735"/>
          </a:xfrm>
        </p:spPr>
        <p:txBody>
          <a:bodyPr/>
          <a:lstStyle/>
          <a:p>
            <a:r>
              <a:rPr lang="en-US" sz="2400" dirty="0">
                <a:latin typeface="Times New Roman" panose="02020603050405020304" pitchFamily="18" charset="0"/>
                <a:cs typeface="Times New Roman" panose="02020603050405020304" pitchFamily="18" charset="0"/>
              </a:rPr>
              <a:t>The hybrid architecture combines the strengths of both cloud and edge computing. In this model, edge devices handle real-time data processing, while the cloud manages large-scale storage and complex computations. </a:t>
            </a:r>
          </a:p>
          <a:p>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This architecture is typically divided into three layers: the IoT layer (data generation), the edge layer (local processing), and the cloud layer (advanced analytics and storage). </a:t>
            </a:r>
          </a:p>
          <a:p>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This layered approach ensures efficient workload distribution and improved performance.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3912973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E27D5F6-5676-9C8F-1DBC-AE62D0E8A971}"/>
              </a:ext>
            </a:extLst>
          </p:cNvPr>
          <p:cNvSpPr>
            <a:spLocks noGrp="1"/>
          </p:cNvSpPr>
          <p:nvPr>
            <p:ph type="title"/>
          </p:nvPr>
        </p:nvSpPr>
        <p:spPr/>
        <p:txBody>
          <a:bodyPr/>
          <a:lstStyle/>
          <a:p>
            <a:r>
              <a:rPr lang="en-US" sz="3200" b="1" dirty="0">
                <a:latin typeface="Times New Roman" panose="02020603050405020304" pitchFamily="18" charset="0"/>
                <a:cs typeface="Times New Roman" panose="02020603050405020304" pitchFamily="18" charset="0"/>
              </a:rPr>
              <a:t/>
            </a:r>
            <a:br>
              <a:rPr lang="en-US" sz="32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Role of Cloud Computing</a:t>
            </a:r>
            <a:r>
              <a:rPr lang="en-US" sz="3200" b="1" dirty="0"/>
              <a:t/>
            </a:r>
            <a:br>
              <a:rPr lang="en-US" sz="3200" b="1" dirty="0"/>
            </a:br>
            <a:endParaRPr lang="en-IN" sz="3200" dirty="0">
              <a:latin typeface="Times New Roman" panose="02020603050405020304" pitchFamily="18" charset="0"/>
              <a:cs typeface="Times New Roman" panose="02020603050405020304" pitchFamily="18" charset="0"/>
            </a:endParaRPr>
          </a:p>
        </p:txBody>
      </p:sp>
      <p:sp>
        <p:nvSpPr>
          <p:cNvPr id="6" name="Rectangle 3">
            <a:extLst>
              <a:ext uri="{FF2B5EF4-FFF2-40B4-BE49-F238E27FC236}">
                <a16:creationId xmlns:a16="http://schemas.microsoft.com/office/drawing/2014/main" xmlns="" id="{346E3BCE-5ED9-1112-C577-23EC12B61210}"/>
              </a:ext>
            </a:extLst>
          </p:cNvPr>
          <p:cNvSpPr>
            <a:spLocks noGrp="1" noChangeArrowheads="1"/>
          </p:cNvSpPr>
          <p:nvPr>
            <p:ph type="subTitle"/>
          </p:nvPr>
        </p:nvSpPr>
        <p:spPr bwMode="auto">
          <a:xfrm>
            <a:off x="1" y="898683"/>
            <a:ext cx="8910734" cy="489364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00000"/>
              </a:lnSpc>
              <a:spcAft>
                <a:spcPct val="0"/>
              </a:spcAft>
            </a:pPr>
            <a:endParaRPr lang="en-US" sz="2400" dirty="0">
              <a:latin typeface="Times New Roman" panose="02020603050405020304" pitchFamily="18" charset="0"/>
              <a:cs typeface="Times New Roman" panose="02020603050405020304" pitchFamily="18" charset="0"/>
            </a:endParaRPr>
          </a:p>
          <a:p>
            <a:pPr lvl="0" eaLnBrk="0" fontAlgn="base" hangingPunct="0">
              <a:lnSpc>
                <a:spcPct val="100000"/>
              </a:lnSpc>
              <a:spcAft>
                <a:spcPct val="0"/>
              </a:spcAft>
            </a:pPr>
            <a:r>
              <a:rPr lang="en-US" sz="2400" dirty="0">
                <a:latin typeface="Times New Roman" panose="02020603050405020304" pitchFamily="18" charset="0"/>
                <a:cs typeface="Times New Roman" panose="02020603050405020304" pitchFamily="18" charset="0"/>
              </a:rPr>
              <a:t>Cloud computing provides scalability, flexibility, and centralized control in data centers. It enables dynamic allocation of resources such as CPU, memory, and storage based on demand through mechanisms like auto-scaling and load balancing. </a:t>
            </a:r>
          </a:p>
          <a:p>
            <a:pPr lvl="0" eaLnBrk="0" fontAlgn="base" hangingPunct="0">
              <a:lnSpc>
                <a:spcPct val="100000"/>
              </a:lnSpc>
              <a:spcAft>
                <a:spcPct val="0"/>
              </a:spcAft>
            </a:pPr>
            <a:endParaRPr lang="en-US" sz="2400" dirty="0">
              <a:latin typeface="Times New Roman" panose="02020603050405020304" pitchFamily="18" charset="0"/>
              <a:cs typeface="Times New Roman" panose="02020603050405020304" pitchFamily="18" charset="0"/>
            </a:endParaRPr>
          </a:p>
          <a:p>
            <a:pPr lvl="0" eaLnBrk="0" fontAlgn="base" hangingPunct="0">
              <a:lnSpc>
                <a:spcPct val="100000"/>
              </a:lnSpc>
              <a:spcAft>
                <a:spcPct val="0"/>
              </a:spcAft>
            </a:pPr>
            <a:r>
              <a:rPr lang="en-US" sz="2400" dirty="0">
                <a:latin typeface="Times New Roman" panose="02020603050405020304" pitchFamily="18" charset="0"/>
                <a:cs typeface="Times New Roman" panose="02020603050405020304" pitchFamily="18" charset="0"/>
              </a:rPr>
              <a:t>Cloud platforms support big data analytics, artificial intelligence, and machine learning workloads, making them essential for modern applications. Additionally, centralized dashboards allow administrators to monitor system performance, manage resources, and ensure security. </a:t>
            </a:r>
          </a:p>
          <a:p>
            <a:pPr lvl="0" eaLnBrk="0" fontAlgn="base" hangingPunct="0">
              <a:lnSpc>
                <a:spcPct val="100000"/>
              </a:lnSpc>
              <a:spcAft>
                <a:spcPct val="0"/>
              </a:spcAft>
            </a:pPr>
            <a:endParaRPr lang="en-US" sz="2400" dirty="0">
              <a:latin typeface="Times New Roman" panose="02020603050405020304" pitchFamily="18" charset="0"/>
              <a:cs typeface="Times New Roman" panose="02020603050405020304" pitchFamily="18" charset="0"/>
            </a:endParaRPr>
          </a:p>
          <a:p>
            <a:pPr lvl="0" eaLnBrk="0" fontAlgn="base" hangingPunct="0">
              <a:lnSpc>
                <a:spcPct val="100000"/>
              </a:lnSpc>
              <a:spcAft>
                <a:spcPct val="0"/>
              </a:spcAft>
            </a:pPr>
            <a:r>
              <a:rPr lang="en-US" sz="2400" dirty="0">
                <a:latin typeface="Times New Roman" panose="02020603050405020304" pitchFamily="18" charset="0"/>
                <a:cs typeface="Times New Roman" panose="02020603050405020304" pitchFamily="18" charset="0"/>
              </a:rPr>
              <a:t>Cloud computing also simplifies software updates and maintenance, contributing to efficient system management.</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5164835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A4DE58E-F236-DEFD-1309-844F5D798E04}"/>
              </a:ext>
            </a:extLst>
          </p:cNvPr>
          <p:cNvSpPr>
            <a:spLocks noGrp="1"/>
          </p:cNvSpPr>
          <p:nvPr>
            <p:ph type="title"/>
          </p:nvPr>
        </p:nvSpPr>
        <p:spPr>
          <a:xfrm>
            <a:off x="345233" y="0"/>
            <a:ext cx="5140807" cy="914040"/>
          </a:xfrm>
        </p:spPr>
        <p:txBody>
          <a:bodyPr/>
          <a:lstStyle/>
          <a:p>
            <a:r>
              <a:rPr lang="en-US" sz="2800" b="1" dirty="0">
                <a:latin typeface="Times New Roman" panose="02020603050405020304" pitchFamily="18" charset="0"/>
                <a:cs typeface="Times New Roman" panose="02020603050405020304" pitchFamily="18" charset="0"/>
              </a:rPr>
              <a:t>Role of Edge Computing</a:t>
            </a:r>
            <a:endParaRPr lang="en-IN" sz="28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xmlns="" id="{15A38D82-638A-9DD0-97CF-16236C782BA1}"/>
              </a:ext>
            </a:extLst>
          </p:cNvPr>
          <p:cNvSpPr>
            <a:spLocks noGrp="1"/>
          </p:cNvSpPr>
          <p:nvPr>
            <p:ph type="subTitle"/>
          </p:nvPr>
        </p:nvSpPr>
        <p:spPr>
          <a:xfrm>
            <a:off x="270588" y="617064"/>
            <a:ext cx="8229240" cy="6473952"/>
          </a:xfrm>
        </p:spPr>
        <p:txBody>
          <a:bodyPr/>
          <a:lstStyle/>
          <a:p>
            <a:r>
              <a:rPr lang="en-US" sz="2400" dirty="0">
                <a:latin typeface="Times New Roman" panose="02020603050405020304" pitchFamily="18" charset="0"/>
                <a:cs typeface="Times New Roman" panose="02020603050405020304" pitchFamily="18" charset="0"/>
              </a:rPr>
              <a:t>Edge computing plays a critical role in reducing latency by processing data closer to the source, thereby minimizing round-trip communication time. This leads to faster response times and improved user experience. </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It optimizes bandwidth usage by processing and filtering data locally before sending only necessary information to the cloud. Edge computing also enhances data privacy and security by limiting data transmission across networks. </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Furthermore, it enables real-time analytics and decision-making and ensures system functionality even in cases of network disruptions, making it highly reliable for critical applications.</a:t>
            </a:r>
            <a:endParaRPr lang="en-IN" sz="2400" dirty="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523898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CDBC319-75A4-01A2-E329-28498FBC2987}"/>
              </a:ext>
            </a:extLst>
          </p:cNvPr>
          <p:cNvSpPr>
            <a:spLocks noGrp="1"/>
          </p:cNvSpPr>
          <p:nvPr>
            <p:ph type="title"/>
          </p:nvPr>
        </p:nvSpPr>
        <p:spPr/>
        <p:txBody>
          <a:bodyPr/>
          <a:lstStyle/>
          <a:p>
            <a:r>
              <a:rPr lang="en-US" sz="2800" b="1" dirty="0">
                <a:latin typeface="Times New Roman" panose="02020603050405020304" pitchFamily="18" charset="0"/>
                <a:cs typeface="Times New Roman" panose="02020603050405020304" pitchFamily="18" charset="0"/>
              </a:rPr>
              <a:t>Benefits of Cloud-Edge Integration</a:t>
            </a:r>
          </a:p>
        </p:txBody>
      </p:sp>
      <p:sp>
        <p:nvSpPr>
          <p:cNvPr id="3" name="Subtitle 2">
            <a:extLst>
              <a:ext uri="{FF2B5EF4-FFF2-40B4-BE49-F238E27FC236}">
                <a16:creationId xmlns:a16="http://schemas.microsoft.com/office/drawing/2014/main" xmlns="" id="{CA82236F-3ECA-0F42-FF1C-A50F72A37336}"/>
              </a:ext>
            </a:extLst>
          </p:cNvPr>
          <p:cNvSpPr>
            <a:spLocks noGrp="1"/>
          </p:cNvSpPr>
          <p:nvPr>
            <p:ph type="subTitle"/>
          </p:nvPr>
        </p:nvSpPr>
        <p:spPr>
          <a:xfrm>
            <a:off x="385011" y="2518611"/>
            <a:ext cx="8269705" cy="2181725"/>
          </a:xfrm>
        </p:spPr>
        <p:txBody>
          <a:bodyPr/>
          <a:lstStyle/>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The integration of cloud and edge computing improves system performance by combining the strengths of both technologies. It reduces latency, optimizes bandwidth usage, and lowers operational costs. </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This hybrid approach optimizes bandwidth usage, reduces operational costs, and enhances energy efficiency. This hybrid approach enhances system reliability, scalability, and fault tolerance.</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 It is particularly useful for modern applications such as smart cities, industrial automation, and intelligent transportation systems.</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2252150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BFA9B6F-F41A-D615-979D-EDCBD9EF9ED6}"/>
              </a:ext>
            </a:extLst>
          </p:cNvPr>
          <p:cNvSpPr>
            <a:spLocks noGrp="1"/>
          </p:cNvSpPr>
          <p:nvPr>
            <p:ph type="title"/>
          </p:nvPr>
        </p:nvSpPr>
        <p:spPr/>
        <p:txBody>
          <a:bodyPr/>
          <a:lstStyle/>
          <a:p>
            <a:r>
              <a:rPr lang="en-US" sz="2800" b="1" dirty="0">
                <a:latin typeface="Times New Roman" panose="02020603050405020304" pitchFamily="18" charset="0"/>
                <a:cs typeface="Times New Roman" panose="02020603050405020304" pitchFamily="18" charset="0"/>
              </a:rPr>
              <a:t>Challenges and Limitations</a:t>
            </a:r>
          </a:p>
        </p:txBody>
      </p:sp>
      <p:sp>
        <p:nvSpPr>
          <p:cNvPr id="3" name="Subtitle 2">
            <a:extLst>
              <a:ext uri="{FF2B5EF4-FFF2-40B4-BE49-F238E27FC236}">
                <a16:creationId xmlns:a16="http://schemas.microsoft.com/office/drawing/2014/main" xmlns="" id="{6319DC79-975F-9F3A-2FFC-0C2D8AFC905C}"/>
              </a:ext>
            </a:extLst>
          </p:cNvPr>
          <p:cNvSpPr>
            <a:spLocks noGrp="1"/>
          </p:cNvSpPr>
          <p:nvPr>
            <p:ph type="subTitle"/>
          </p:nvPr>
        </p:nvSpPr>
        <p:spPr>
          <a:xfrm>
            <a:off x="417094" y="2454443"/>
            <a:ext cx="8149389" cy="1957136"/>
          </a:xfrm>
        </p:spPr>
        <p:txBody>
          <a:bodyPr/>
          <a:lstStyle/>
          <a:p>
            <a:pPr marL="0" indent="0">
              <a:buNone/>
            </a:pPr>
            <a:r>
              <a:rPr lang="en-US" sz="2400" dirty="0">
                <a:latin typeface="Times New Roman" panose="02020603050405020304" pitchFamily="18" charset="0"/>
                <a:cs typeface="Times New Roman" panose="02020603050405020304" pitchFamily="18" charset="0"/>
              </a:rPr>
              <a:t>Despite its advantages, cloud-edge integration faces several challenges. Edge devices have limited computational resources compared to cloud data centers. </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Security risks increase due to decentralized systems, making them vulnerable to cyberattacks. Managing distributed systems is complex and requires advanced orchestration techniques. </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Additionally, the lack of standardization creates interoperability issues between different platforms and technologies.</a:t>
            </a:r>
          </a:p>
        </p:txBody>
      </p:sp>
    </p:spTree>
    <p:extLst>
      <p:ext uri="{BB962C8B-B14F-4D97-AF65-F5344CB8AC3E}">
        <p14:creationId xmlns:p14="http://schemas.microsoft.com/office/powerpoint/2010/main" xmlns="" val="7567144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05A35F2-5523-AC2E-5D79-A1EEDC7DFC57}"/>
              </a:ext>
            </a:extLst>
          </p:cNvPr>
          <p:cNvSpPr>
            <a:spLocks noGrp="1"/>
          </p:cNvSpPr>
          <p:nvPr>
            <p:ph type="title"/>
          </p:nvPr>
        </p:nvSpPr>
        <p:spPr/>
        <p:txBody>
          <a:bodyPr/>
          <a:lstStyle/>
          <a:p>
            <a:r>
              <a:rPr lang="en-US" sz="2800" b="1" dirty="0">
                <a:latin typeface="Times New Roman" panose="02020603050405020304" pitchFamily="18" charset="0"/>
                <a:cs typeface="Times New Roman" panose="02020603050405020304" pitchFamily="18" charset="0"/>
              </a:rPr>
              <a:t>Applications</a:t>
            </a:r>
          </a:p>
        </p:txBody>
      </p:sp>
      <p:sp>
        <p:nvSpPr>
          <p:cNvPr id="3" name="Subtitle 2">
            <a:extLst>
              <a:ext uri="{FF2B5EF4-FFF2-40B4-BE49-F238E27FC236}">
                <a16:creationId xmlns:a16="http://schemas.microsoft.com/office/drawing/2014/main" xmlns="" id="{2E56DF17-4992-E6CB-342E-D43F30EA9556}"/>
              </a:ext>
            </a:extLst>
          </p:cNvPr>
          <p:cNvSpPr>
            <a:spLocks noGrp="1"/>
          </p:cNvSpPr>
          <p:nvPr>
            <p:ph type="subTitle"/>
          </p:nvPr>
        </p:nvSpPr>
        <p:spPr>
          <a:xfrm>
            <a:off x="280737" y="2334127"/>
            <a:ext cx="8406063" cy="2422358"/>
          </a:xfrm>
        </p:spPr>
        <p:txBody>
          <a:bodyPr/>
          <a:lstStyle/>
          <a:p>
            <a:r>
              <a:rPr lang="en-US" sz="2800" dirty="0">
                <a:latin typeface="Times New Roman" panose="02020603050405020304" pitchFamily="18" charset="0"/>
                <a:cs typeface="Times New Roman" panose="02020603050405020304" pitchFamily="18" charset="0"/>
              </a:rPr>
              <a:t>Cloud and edge computing are widely used in various real-world applications. In smart cities, they enable traffic management and energy optimization. </a:t>
            </a: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In healthcare, they support real-time patient monitoring and telemedicine. Autonomous vehicles rely on edge computing for real-time decision-making, while the cloud handles data storage and AI model training. </a:t>
            </a: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In industrial IoT, they enable predictive maintenance and automation, improving efficiency and productivity.</a:t>
            </a:r>
          </a:p>
        </p:txBody>
      </p:sp>
    </p:spTree>
    <p:extLst>
      <p:ext uri="{BB962C8B-B14F-4D97-AF65-F5344CB8AC3E}">
        <p14:creationId xmlns:p14="http://schemas.microsoft.com/office/powerpoint/2010/main" xmlns="" val="36769827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A6A49AE-EE7D-0EB2-6166-38EC24833924}"/>
              </a:ext>
            </a:extLst>
          </p:cNvPr>
          <p:cNvSpPr>
            <a:spLocks noGrp="1"/>
          </p:cNvSpPr>
          <p:nvPr>
            <p:ph type="title"/>
          </p:nvPr>
        </p:nvSpPr>
        <p:spPr/>
        <p:txBody>
          <a:bodyPr/>
          <a:lstStyle/>
          <a:p>
            <a:r>
              <a:rPr lang="en-US" sz="2800" b="1" dirty="0">
                <a:latin typeface="Times New Roman" panose="02020603050405020304" pitchFamily="18" charset="0"/>
                <a:cs typeface="Times New Roman" panose="02020603050405020304" pitchFamily="18" charset="0"/>
              </a:rPr>
              <a:t>Snapshots of the Project:</a:t>
            </a:r>
          </a:p>
        </p:txBody>
      </p:sp>
      <p:sp>
        <p:nvSpPr>
          <p:cNvPr id="3" name="Subtitle 2">
            <a:extLst>
              <a:ext uri="{FF2B5EF4-FFF2-40B4-BE49-F238E27FC236}">
                <a16:creationId xmlns:a16="http://schemas.microsoft.com/office/drawing/2014/main" xmlns="" id="{CFA33099-C464-C082-8BBB-B8520759CFE7}"/>
              </a:ext>
            </a:extLst>
          </p:cNvPr>
          <p:cNvSpPr>
            <a:spLocks noGrp="1"/>
          </p:cNvSpPr>
          <p:nvPr>
            <p:ph type="subTitle"/>
          </p:nvPr>
        </p:nvSpPr>
        <p:spPr>
          <a:xfrm>
            <a:off x="1371600" y="2971980"/>
            <a:ext cx="5486040" cy="914040"/>
          </a:xfrm>
        </p:spPr>
        <p:txBody>
          <a:bodyPr/>
          <a:lstStyle/>
          <a:p>
            <a:endParaRPr lang="en-US" dirty="0"/>
          </a:p>
        </p:txBody>
      </p:sp>
      <p:pic>
        <p:nvPicPr>
          <p:cNvPr id="5" name="Picture 4">
            <a:extLst>
              <a:ext uri="{FF2B5EF4-FFF2-40B4-BE49-F238E27FC236}">
                <a16:creationId xmlns:a16="http://schemas.microsoft.com/office/drawing/2014/main" xmlns="" id="{F0E5D8B2-0656-B84E-17DD-FB675277F491}"/>
              </a:ext>
            </a:extLst>
          </p:cNvPr>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457200" y="970547"/>
            <a:ext cx="8518358" cy="5165557"/>
          </a:xfrm>
          <a:prstGeom prst="rect">
            <a:avLst/>
          </a:prstGeom>
        </p:spPr>
      </p:pic>
    </p:spTree>
    <p:extLst>
      <p:ext uri="{BB962C8B-B14F-4D97-AF65-F5344CB8AC3E}">
        <p14:creationId xmlns:p14="http://schemas.microsoft.com/office/powerpoint/2010/main" xmlns="" val="32450898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xmlns="" id="{68489291-12F7-A8A1-B263-F10654966359}"/>
              </a:ext>
            </a:extLst>
          </p:cNvPr>
          <p:cNvSpPr>
            <a:spLocks noGrp="1"/>
          </p:cNvSpPr>
          <p:nvPr>
            <p:ph type="subTitle"/>
          </p:nvPr>
        </p:nvSpPr>
        <p:spPr>
          <a:xfrm>
            <a:off x="2834640" y="3124561"/>
            <a:ext cx="4896760" cy="914040"/>
          </a:xfrm>
        </p:spPr>
        <p:txBody>
          <a:bodyPr/>
          <a:lstStyle/>
          <a:p>
            <a:endParaRPr lang="en-IN" dirty="0"/>
          </a:p>
        </p:txBody>
      </p:sp>
      <p:pic>
        <p:nvPicPr>
          <p:cNvPr id="6" name="Picture 5">
            <a:extLst>
              <a:ext uri="{FF2B5EF4-FFF2-40B4-BE49-F238E27FC236}">
                <a16:creationId xmlns:a16="http://schemas.microsoft.com/office/drawing/2014/main" xmlns="" id="{99FC5CEB-A230-C3EA-BBF2-92BE8E9ADF08}"/>
              </a:ext>
            </a:extLst>
          </p:cNvPr>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461210" y="1150318"/>
            <a:ext cx="8221579" cy="4825365"/>
          </a:xfrm>
          <a:prstGeom prst="rect">
            <a:avLst/>
          </a:prstGeom>
        </p:spPr>
      </p:pic>
    </p:spTree>
    <p:extLst>
      <p:ext uri="{BB962C8B-B14F-4D97-AF65-F5344CB8AC3E}">
        <p14:creationId xmlns:p14="http://schemas.microsoft.com/office/powerpoint/2010/main" xmlns="" val="35324219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xmlns="" id="{83760BA2-1288-EB84-C0C8-4CF0D23A47FB}"/>
              </a:ext>
            </a:extLst>
          </p:cNvPr>
          <p:cNvSpPr>
            <a:spLocks noGrp="1"/>
          </p:cNvSpPr>
          <p:nvPr>
            <p:ph type="subTitle"/>
          </p:nvPr>
        </p:nvSpPr>
        <p:spPr>
          <a:xfrm>
            <a:off x="1240972" y="1147665"/>
            <a:ext cx="3993502" cy="1502228"/>
          </a:xfrm>
        </p:spPr>
        <p:txBody>
          <a:bodyPr/>
          <a:lstStyle/>
          <a:p>
            <a:endParaRPr lang="en-IN" dirty="0"/>
          </a:p>
        </p:txBody>
      </p:sp>
      <p:pic>
        <p:nvPicPr>
          <p:cNvPr id="6" name="Picture 5">
            <a:extLst>
              <a:ext uri="{FF2B5EF4-FFF2-40B4-BE49-F238E27FC236}">
                <a16:creationId xmlns:a16="http://schemas.microsoft.com/office/drawing/2014/main" xmlns="" id="{DAF73C60-2737-E5EE-C8DF-08116D2BCAA3}"/>
              </a:ext>
            </a:extLst>
          </p:cNvPr>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745958" y="1082468"/>
            <a:ext cx="8061158" cy="5181974"/>
          </a:xfrm>
          <a:prstGeom prst="rect">
            <a:avLst/>
          </a:prstGeom>
        </p:spPr>
      </p:pic>
    </p:spTree>
    <p:extLst>
      <p:ext uri="{BB962C8B-B14F-4D97-AF65-F5344CB8AC3E}">
        <p14:creationId xmlns:p14="http://schemas.microsoft.com/office/powerpoint/2010/main" xmlns="" val="14121436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xmlns="" id="{DF7A6045-0CA2-ECE3-06D9-C96CC88897DB}"/>
              </a:ext>
            </a:extLst>
          </p:cNvPr>
          <p:cNvSpPr>
            <a:spLocks noGrp="1"/>
          </p:cNvSpPr>
          <p:nvPr>
            <p:ph type="subTitle"/>
          </p:nvPr>
        </p:nvSpPr>
        <p:spPr>
          <a:xfrm>
            <a:off x="1291389" y="3072063"/>
            <a:ext cx="5486040" cy="914040"/>
          </a:xfrm>
        </p:spPr>
        <p:txBody>
          <a:bodyPr/>
          <a:lstStyle/>
          <a:p>
            <a:endParaRPr lang="en-US" dirty="0"/>
          </a:p>
        </p:txBody>
      </p:sp>
      <p:pic>
        <p:nvPicPr>
          <p:cNvPr id="5" name="Picture 4">
            <a:extLst>
              <a:ext uri="{FF2B5EF4-FFF2-40B4-BE49-F238E27FC236}">
                <a16:creationId xmlns:a16="http://schemas.microsoft.com/office/drawing/2014/main" xmlns="" id="{7584F2AD-72B6-FDBF-94B7-1F886B84A12D}"/>
              </a:ext>
            </a:extLst>
          </p:cNvPr>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344725" y="1215720"/>
            <a:ext cx="8454189" cy="5169038"/>
          </a:xfrm>
          <a:prstGeom prst="rect">
            <a:avLst/>
          </a:prstGeom>
        </p:spPr>
      </p:pic>
    </p:spTree>
    <p:extLst>
      <p:ext uri="{BB962C8B-B14F-4D97-AF65-F5344CB8AC3E}">
        <p14:creationId xmlns:p14="http://schemas.microsoft.com/office/powerpoint/2010/main" xmlns="" val="14581951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66BD289-2356-2B4F-8B00-7E7EAFB40F18}"/>
              </a:ext>
            </a:extLst>
          </p:cNvPr>
          <p:cNvSpPr>
            <a:spLocks noGrp="1"/>
          </p:cNvSpPr>
          <p:nvPr>
            <p:ph type="title"/>
          </p:nvPr>
        </p:nvSpPr>
        <p:spPr/>
        <p:txBody>
          <a:bodyPr/>
          <a:lstStyle/>
          <a:p>
            <a:r>
              <a:rPr lang="en-IN" sz="2800" b="1" dirty="0">
                <a:latin typeface="Times New Roman" panose="02020603050405020304" pitchFamily="18" charset="0"/>
                <a:cs typeface="Times New Roman" panose="02020603050405020304" pitchFamily="18" charset="0"/>
              </a:rPr>
              <a:t>Code Snippet:</a:t>
            </a:r>
          </a:p>
        </p:txBody>
      </p:sp>
      <p:sp>
        <p:nvSpPr>
          <p:cNvPr id="3" name="Subtitle 2">
            <a:extLst>
              <a:ext uri="{FF2B5EF4-FFF2-40B4-BE49-F238E27FC236}">
                <a16:creationId xmlns:a16="http://schemas.microsoft.com/office/drawing/2014/main" xmlns="" id="{4FF6B15A-0D18-DC26-7A1C-FD69BCFCE8B4}"/>
              </a:ext>
            </a:extLst>
          </p:cNvPr>
          <p:cNvSpPr>
            <a:spLocks noGrp="1"/>
          </p:cNvSpPr>
          <p:nvPr>
            <p:ph type="subTitle"/>
          </p:nvPr>
        </p:nvSpPr>
        <p:spPr>
          <a:xfrm>
            <a:off x="3008762" y="3648269"/>
            <a:ext cx="4954555" cy="503853"/>
          </a:xfrm>
        </p:spPr>
        <p:txBody>
          <a:bodyPr/>
          <a:lstStyle/>
          <a:p>
            <a:endParaRPr lang="en-IN" dirty="0"/>
          </a:p>
        </p:txBody>
      </p:sp>
      <p:pic>
        <p:nvPicPr>
          <p:cNvPr id="6" name="Picture 5">
            <a:extLst>
              <a:ext uri="{FF2B5EF4-FFF2-40B4-BE49-F238E27FC236}">
                <a16:creationId xmlns:a16="http://schemas.microsoft.com/office/drawing/2014/main" xmlns="" id="{D29FE887-25E5-4F97-8EDC-A1DF542A9480}"/>
              </a:ext>
            </a:extLst>
          </p:cNvPr>
          <p:cNvPicPr>
            <a:picLocks noChangeAspect="1"/>
          </p:cNvPicPr>
          <p:nvPr/>
        </p:nvPicPr>
        <p:blipFill>
          <a:blip r:embed="rId2">
            <a:extLst>
              <a:ext uri="{28A0092B-C50C-407E-A947-70E740481C1C}">
                <a14:useLocalDpi xmlns:a14="http://schemas.microsoft.com/office/drawing/2010/main" xmlns="" val="0"/>
              </a:ext>
            </a:extLst>
          </a:blip>
          <a:srcRect b="4924"/>
          <a:stretch>
            <a:fillRect/>
          </a:stretch>
        </p:blipFill>
        <p:spPr>
          <a:xfrm>
            <a:off x="590341" y="1146703"/>
            <a:ext cx="7963317" cy="4756792"/>
          </a:xfrm>
          <a:prstGeom prst="rect">
            <a:avLst/>
          </a:prstGeom>
        </p:spPr>
      </p:pic>
    </p:spTree>
    <p:extLst>
      <p:ext uri="{BB962C8B-B14F-4D97-AF65-F5344CB8AC3E}">
        <p14:creationId xmlns:p14="http://schemas.microsoft.com/office/powerpoint/2010/main" xmlns="" val="42285558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xmlns="" id="{A5302C32-66B3-85FB-6CE3-80CD2F79AEB1}"/>
              </a:ext>
            </a:extLst>
          </p:cNvPr>
          <p:cNvSpPr>
            <a:spLocks noGrp="1"/>
          </p:cNvSpPr>
          <p:nvPr>
            <p:ph type="subTitle"/>
          </p:nvPr>
        </p:nvSpPr>
        <p:spPr>
          <a:xfrm>
            <a:off x="457200" y="2514600"/>
            <a:ext cx="5486040" cy="914040"/>
          </a:xfrm>
        </p:spPr>
        <p:txBody>
          <a:bodyPr/>
          <a:lstStyle/>
          <a:p>
            <a:endParaRPr lang="en-US"/>
          </a:p>
        </p:txBody>
      </p:sp>
      <p:pic>
        <p:nvPicPr>
          <p:cNvPr id="5" name="Picture 4">
            <a:extLst>
              <a:ext uri="{FF2B5EF4-FFF2-40B4-BE49-F238E27FC236}">
                <a16:creationId xmlns:a16="http://schemas.microsoft.com/office/drawing/2014/main" xmlns="" id="{BE82F51B-1617-480B-3291-8C7CB228F29A}"/>
              </a:ext>
            </a:extLst>
          </p:cNvPr>
          <p:cNvPicPr>
            <a:picLocks noChangeAspect="1"/>
          </p:cNvPicPr>
          <p:nvPr/>
        </p:nvPicPr>
        <p:blipFill>
          <a:blip r:embed="rId2">
            <a:extLst>
              <a:ext uri="{28A0092B-C50C-407E-A947-70E740481C1C}">
                <a14:useLocalDpi xmlns:a14="http://schemas.microsoft.com/office/drawing/2010/main" xmlns="" val="0"/>
              </a:ext>
            </a:extLst>
          </a:blip>
          <a:srcRect b="5336"/>
          <a:stretch>
            <a:fillRect/>
          </a:stretch>
        </p:blipFill>
        <p:spPr>
          <a:xfrm>
            <a:off x="457200" y="1074821"/>
            <a:ext cx="8430126" cy="5325979"/>
          </a:xfrm>
          <a:prstGeom prst="rect">
            <a:avLst/>
          </a:prstGeom>
        </p:spPr>
      </p:pic>
    </p:spTree>
    <p:extLst>
      <p:ext uri="{BB962C8B-B14F-4D97-AF65-F5344CB8AC3E}">
        <p14:creationId xmlns:p14="http://schemas.microsoft.com/office/powerpoint/2010/main" xmlns="" val="14939714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96A560F-FD21-74D6-2721-C485CB22B5FE}"/>
              </a:ext>
            </a:extLst>
          </p:cNvPr>
          <p:cNvSpPr>
            <a:spLocks noGrp="1"/>
          </p:cNvSpPr>
          <p:nvPr>
            <p:ph type="title"/>
          </p:nvPr>
        </p:nvSpPr>
        <p:spPr>
          <a:xfrm>
            <a:off x="401216" y="0"/>
            <a:ext cx="5486040" cy="914040"/>
          </a:xfrm>
        </p:spPr>
        <p:txBody>
          <a:bodyPr/>
          <a:lstStyle/>
          <a:p>
            <a:r>
              <a:rPr lang="en-US" sz="2800" b="1" dirty="0">
                <a:latin typeface="Times New Roman" panose="02020603050405020304" pitchFamily="18" charset="0"/>
                <a:cs typeface="Times New Roman" panose="02020603050405020304" pitchFamily="18" charset="0"/>
              </a:rPr>
              <a:t>Future Trends</a:t>
            </a:r>
            <a:endParaRPr lang="en-IN" sz="2800" b="1"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xmlns="" id="{E492DDA3-228A-9DCB-4BD2-9725DB814544}"/>
              </a:ext>
            </a:extLst>
          </p:cNvPr>
          <p:cNvSpPr>
            <a:spLocks noGrp="1" noChangeArrowheads="1"/>
          </p:cNvSpPr>
          <p:nvPr>
            <p:ph type="subTitle"/>
          </p:nvPr>
        </p:nvSpPr>
        <p:spPr bwMode="auto">
          <a:xfrm>
            <a:off x="130630" y="958075"/>
            <a:ext cx="8761444" cy="563231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00000"/>
              </a:lnSpc>
              <a:spcAft>
                <a:spcPct val="0"/>
              </a:spcAft>
            </a:pPr>
            <a:r>
              <a:rPr lang="en-US" sz="2400" dirty="0">
                <a:latin typeface="Times New Roman" panose="02020603050405020304" pitchFamily="18" charset="0"/>
                <a:cs typeface="Times New Roman" panose="02020603050405020304" pitchFamily="18" charset="0"/>
              </a:rPr>
              <a:t>The future of cloud-edge computing is being shaped by emerging technologies such as artificial intelligence, 5G networks, and sustainable computing. AI and machine learning will enable intelligent resource management and automated decision-making at the edge. </a:t>
            </a:r>
          </a:p>
          <a:p>
            <a:pPr lvl="0" eaLnBrk="0" fontAlgn="base" hangingPunct="0">
              <a:lnSpc>
                <a:spcPct val="100000"/>
              </a:lnSpc>
              <a:spcAft>
                <a:spcPct val="0"/>
              </a:spcAft>
            </a:pPr>
            <a:endParaRPr lang="en-US" sz="2400" dirty="0">
              <a:latin typeface="Times New Roman" panose="02020603050405020304" pitchFamily="18" charset="0"/>
              <a:cs typeface="Times New Roman" panose="02020603050405020304" pitchFamily="18" charset="0"/>
            </a:endParaRPr>
          </a:p>
          <a:p>
            <a:pPr lvl="0" eaLnBrk="0" fontAlgn="base" hangingPunct="0">
              <a:lnSpc>
                <a:spcPct val="100000"/>
              </a:lnSpc>
              <a:spcAft>
                <a:spcPct val="0"/>
              </a:spcAft>
            </a:pPr>
            <a:r>
              <a:rPr lang="en-US" sz="2400" dirty="0">
                <a:latin typeface="Times New Roman" panose="02020603050405020304" pitchFamily="18" charset="0"/>
                <a:cs typeface="Times New Roman" panose="02020603050405020304" pitchFamily="18" charset="0"/>
              </a:rPr>
              <a:t>The deployment of 5G networks will provide high-speed, low-latency communication, further enhancing real-time applications. Edge Computing as a Service (</a:t>
            </a:r>
            <a:r>
              <a:rPr lang="en-US" sz="2400" dirty="0" err="1">
                <a:latin typeface="Times New Roman" panose="02020603050405020304" pitchFamily="18" charset="0"/>
                <a:cs typeface="Times New Roman" panose="02020603050405020304" pitchFamily="18" charset="0"/>
              </a:rPr>
              <a:t>ECaaS</a:t>
            </a:r>
            <a:r>
              <a:rPr lang="en-US" sz="2400" dirty="0">
                <a:latin typeface="Times New Roman" panose="02020603050405020304" pitchFamily="18" charset="0"/>
                <a:cs typeface="Times New Roman" panose="02020603050405020304" pitchFamily="18" charset="0"/>
              </a:rPr>
              <a:t>) is gaining popularity, offering scalable and flexible solutions.</a:t>
            </a:r>
          </a:p>
          <a:p>
            <a:pPr lvl="0" eaLnBrk="0" fontAlgn="base" hangingPunct="0">
              <a:lnSpc>
                <a:spcPct val="100000"/>
              </a:lnSpc>
              <a:spcAft>
                <a:spcPct val="0"/>
              </a:spcAft>
            </a:pPr>
            <a:endParaRPr lang="en-US" sz="2400" dirty="0">
              <a:latin typeface="Times New Roman" panose="02020603050405020304" pitchFamily="18" charset="0"/>
              <a:cs typeface="Times New Roman" panose="02020603050405020304" pitchFamily="18" charset="0"/>
            </a:endParaRPr>
          </a:p>
          <a:p>
            <a:pPr lvl="0" eaLnBrk="0" fontAlgn="base" hangingPunct="0">
              <a:lnSpc>
                <a:spcPct val="100000"/>
              </a:lnSpc>
              <a:spcAft>
                <a:spcPct val="0"/>
              </a:spcAft>
            </a:pPr>
            <a:r>
              <a:rPr lang="en-US" sz="2400" dirty="0">
                <a:latin typeface="Times New Roman" panose="02020603050405020304" pitchFamily="18" charset="0"/>
                <a:cs typeface="Times New Roman" panose="02020603050405020304" pitchFamily="18" charset="0"/>
              </a:rPr>
              <a:t>Additionally, there is a growing focus on developing energy-efficient and environmentally sustainable data centers. Serverless computing at the edge is also emerging, simplifying deployment and scaling processes.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29002884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A27E019-816C-36E3-11C0-07A26DC53223}"/>
              </a:ext>
            </a:extLst>
          </p:cNvPr>
          <p:cNvSpPr>
            <a:spLocks noGrp="1"/>
          </p:cNvSpPr>
          <p:nvPr>
            <p:ph type="title"/>
          </p:nvPr>
        </p:nvSpPr>
        <p:spPr>
          <a:xfrm>
            <a:off x="326571" y="0"/>
            <a:ext cx="5486040" cy="914040"/>
          </a:xfrm>
        </p:spPr>
        <p:txBody>
          <a:bodyPr/>
          <a:lstStyle/>
          <a:p>
            <a:r>
              <a:rPr lang="en-IN" sz="2800" b="1" dirty="0">
                <a:latin typeface="Times New Roman" panose="02020603050405020304" pitchFamily="18" charset="0"/>
                <a:cs typeface="Times New Roman" panose="02020603050405020304" pitchFamily="18" charset="0"/>
              </a:rPr>
              <a:t>Conclusion</a:t>
            </a:r>
          </a:p>
        </p:txBody>
      </p:sp>
      <p:sp>
        <p:nvSpPr>
          <p:cNvPr id="3" name="Subtitle 2">
            <a:extLst>
              <a:ext uri="{FF2B5EF4-FFF2-40B4-BE49-F238E27FC236}">
                <a16:creationId xmlns:a16="http://schemas.microsoft.com/office/drawing/2014/main" xmlns="" id="{E7A34A56-3808-43E9-6011-5344C1F2A993}"/>
              </a:ext>
            </a:extLst>
          </p:cNvPr>
          <p:cNvSpPr>
            <a:spLocks noGrp="1"/>
          </p:cNvSpPr>
          <p:nvPr>
            <p:ph type="subTitle"/>
          </p:nvPr>
        </p:nvSpPr>
        <p:spPr>
          <a:xfrm>
            <a:off x="203615" y="584200"/>
            <a:ext cx="8056880" cy="5689600"/>
          </a:xfrm>
        </p:spPr>
        <p:txBody>
          <a:bodyPr/>
          <a:lstStyle/>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Cloud and edge computing together form a powerful hybrid architecture that addresses the limitations of traditional data centers. While cloud computing provides scalability, high computational power, and centralized control, edge computing enables real-time processing, low latency, and improved responsiveness. </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This integration is essential for supporting modern technologies such as IoT, artificial intelligence, and autonomous systems. Although challenges such as security risks and lack of standardization remain, ongoing research is developing effective solutions. </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Overall, cloud-edge computing is expected to play a crucial role in shaping the future of data center technologies.</a:t>
            </a:r>
          </a:p>
          <a:p>
            <a:r>
              <a:rPr lang="en-US" sz="2400" dirty="0"/>
              <a:t/>
            </a:r>
            <a:br>
              <a:rPr lang="en-US" sz="2400" dirty="0"/>
            </a:br>
            <a:endParaRPr lang="en-US" sz="2400" dirty="0"/>
          </a:p>
          <a:p>
            <a:endParaRPr lang="en-US" sz="2400" dirty="0">
              <a:latin typeface="+mn-lt"/>
            </a:endParaRPr>
          </a:p>
        </p:txBody>
      </p:sp>
    </p:spTree>
    <p:extLst>
      <p:ext uri="{BB962C8B-B14F-4D97-AF65-F5344CB8AC3E}">
        <p14:creationId xmlns:p14="http://schemas.microsoft.com/office/powerpoint/2010/main" xmlns="" val="32355217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6000" dirty="0">
                <a:latin typeface="Sitka Small" pitchFamily="2" charset="0"/>
                <a:cs typeface="Times New Roman" panose="02020603050405020304" pitchFamily="18" charset="0"/>
              </a:rPr>
              <a:t>Thank You</a:t>
            </a:r>
            <a:endParaRPr lang="en-US" sz="6000" b="0" strike="noStrike" spc="-1" dirty="0">
              <a:solidFill>
                <a:srgbClr val="000000"/>
              </a:solidFill>
              <a:latin typeface="Sitka Small" pitchFamily="2"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19</a:t>
            </a:fld>
            <a:endParaRPr lang="en-GB" sz="1200" b="0" strike="noStrike" spc="-1">
              <a:latin typeface="Times New Roman"/>
            </a:endParaRPr>
          </a:p>
        </p:txBody>
      </p:sp>
    </p:spTree>
    <p:extLst>
      <p:ext uri="{BB962C8B-B14F-4D97-AF65-F5344CB8AC3E}">
        <p14:creationId xmlns:p14="http://schemas.microsoft.com/office/powerpoint/2010/main" xmlns=""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4A62A602-78C1-468C-BB25-57CD481DB741}">
  <ds:schemaRefs>
    <ds:schemaRef ds:uri="http://www.w3.org/XML/1998/namespace"/>
    <ds:schemaRef ds:uri="http://schemas.openxmlformats.org/package/2006/metadata/core-properties"/>
    <ds:schemaRef ds:uri="http://schemas.microsoft.com/office/2006/metadata/properties"/>
    <ds:schemaRef ds:uri="http://purl.org/dc/elements/1.1/"/>
    <ds:schemaRef ds:uri="http://purl.org/dc/terms/"/>
    <ds:schemaRef ds:uri="http://schemas.microsoft.com/office/2006/documentManagement/types"/>
    <ds:schemaRef ds:uri="http://schemas.microsoft.com/office/infopath/2007/PartnerControls"/>
    <ds:schemaRef ds:uri="http://purl.org/dc/dcmitype/"/>
  </ds:schemaRefs>
</ds:datastoreItem>
</file>

<file path=customXml/itemProps3.xml><?xml version="1.0" encoding="utf-8"?>
<ds:datastoreItem xmlns:ds="http://schemas.openxmlformats.org/officeDocument/2006/customXml" ds:itemID="{737ED6F0-5E4C-4CD0-9B68-9C53F925A6F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35038</TotalTime>
  <Words>1001</Words>
  <Application>Microsoft Office PowerPoint</Application>
  <PresentationFormat>On-screen Show (4:3)</PresentationFormat>
  <Paragraphs>104</Paragraphs>
  <Slides>19</Slides>
  <Notes>1</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Slide 1</vt:lpstr>
      <vt:lpstr>Slide 2</vt:lpstr>
      <vt:lpstr>Cloud Computing in Data Centers</vt:lpstr>
      <vt:lpstr>Edge Computing Overview</vt:lpstr>
      <vt:lpstr>Hybrid Cloud-Edge Architecture</vt:lpstr>
      <vt:lpstr> Role of Cloud Computing </vt:lpstr>
      <vt:lpstr>Role of Edge Computing</vt:lpstr>
      <vt:lpstr>Benefits of Cloud-Edge Integration</vt:lpstr>
      <vt:lpstr>Challenges and Limitations</vt:lpstr>
      <vt:lpstr>Applications</vt:lpstr>
      <vt:lpstr>Snapshots of the Project:</vt:lpstr>
      <vt:lpstr>Slide 12</vt:lpstr>
      <vt:lpstr>Slide 13</vt:lpstr>
      <vt:lpstr>Slide 14</vt:lpstr>
      <vt:lpstr>Code Snippet:</vt:lpstr>
      <vt:lpstr>Slide 16</vt:lpstr>
      <vt:lpstr>Future Trends</vt:lpstr>
      <vt:lpstr>Conclusion</vt:lpstr>
      <vt:lpstr>Slide 19</vt:lpstr>
    </vt:vector>
  </TitlesOfParts>
  <Company>CCC</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HOme</cp:lastModifiedBy>
  <cp:revision>2336</cp:revision>
  <dcterms:created xsi:type="dcterms:W3CDTF">2010-04-09T07:36:15Z</dcterms:created>
  <dcterms:modified xsi:type="dcterms:W3CDTF">2026-04-27T05:13:55Z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